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103327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6000" b="1">
                <a:solidFill>
                  <a:srgbClr val="FFFFFF"/>
                </a:solidFill>
                <a:latin typeface="Arial"/>
              </a:defRPr>
            </a:pPr>
            <a:r>
              <a:t>ElectionSim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560320"/>
            <a:ext cx="103327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00D2FF"/>
                </a:solidFill>
                <a:latin typeface="Arial"/>
              </a:defRPr>
            </a:pPr>
            <a:r>
              <a:t>AI-Powered Japanese Election Prediction System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0" y="3840480"/>
            <a:ext cx="8503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B0B0C0"/>
                </a:solidFill>
                <a:latin typeface="Arial"/>
              </a:defRPr>
            </a:pPr>
            <a:r>
              <a:t>ペルソナベース投票シミュレーション × マルチAI予測パイプラインによる</a:t>
            </a:r>
            <a:br/>
            <a:r>
              <a:t>衆議院選挙全465議席の予測システム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200400" y="5029200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FastAPI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754880" y="5029200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Next.js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0" y="5029200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AI/LLM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863840" y="5029200"/>
            <a:ext cx="1371600" cy="320040"/>
          </a:xfrm>
          <a:prstGeom prst="roundRect">
            <a:avLst>
              <a:gd name="adj" fmla="val 5000"/>
            </a:avLst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289 Districts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621792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88"/>
                </a:solidFill>
                <a:latin typeface="Arial"/>
              </a:defRPr>
            </a:pPr>
            <a:r>
              <a:t>replication-horiemonAI | Project Architecture Overview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System Architecture  |  システム全体構成図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937760" y="914400"/>
            <a:ext cx="2286000" cy="640080"/>
          </a:xfrm>
          <a:prstGeom prst="roundRect">
            <a:avLst>
              <a:gd name="adj" fmla="val 5000"/>
            </a:avLst>
          </a:prstGeom>
          <a:solidFill>
            <a:srgbClr val="3D5A8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>
                <a:solidFill>
                  <a:srgbClr val="FFFFFF"/>
                </a:solidFill>
                <a:latin typeface="Arial"/>
              </a:defRPr>
            </a:pPr>
            <a:r>
              <a:t>User / Browser</a:t>
            </a:r>
          </a:p>
        </p:txBody>
      </p:sp>
      <p:sp>
        <p:nvSpPr>
          <p:cNvPr id="4" name="Rectangle 3"/>
          <p:cNvSpPr/>
          <p:nvPr/>
        </p:nvSpPr>
        <p:spPr>
          <a:xfrm>
            <a:off x="6080760" y="1554480"/>
            <a:ext cx="36576" cy="457200"/>
          </a:xfrm>
          <a:prstGeom prst="rect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Isosceles Triangle 4"/>
          <p:cNvSpPr/>
          <p:nvPr/>
        </p:nvSpPr>
        <p:spPr>
          <a:xfrm rot="10800000">
            <a:off x="6007608" y="1874520"/>
            <a:ext cx="182880" cy="182880"/>
          </a:xfrm>
          <a:prstGeom prst="triangle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217920" y="169164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Arial"/>
              </a:defRPr>
            </a:pPr>
            <a:r>
              <a:t>HTTP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2286000" y="2011680"/>
            <a:ext cx="7589520" cy="1188720"/>
          </a:xfrm>
          <a:prstGeom prst="roundRect">
            <a:avLst>
              <a:gd name="adj" fmla="val 5000"/>
            </a:avLst>
          </a:prstGeom>
          <a:solidFill>
            <a:srgbClr val="0D47A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468880" y="205740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00D2FF"/>
                </a:solidFill>
                <a:latin typeface="Arial"/>
              </a:defRPr>
            </a:pPr>
            <a:r>
              <a:t>FRONTEND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2468880" y="2423160"/>
            <a:ext cx="1645920" cy="640080"/>
          </a:xfrm>
          <a:prstGeom prst="roundRect">
            <a:avLst>
              <a:gd name="adj" fmla="val 5000"/>
            </a:avLst>
          </a:prstGeom>
          <a:solidFill>
            <a:srgbClr val="1A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Next.js 14</a:t>
            </a:r>
            <a:br/>
            <a:r>
              <a:t>App Router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389120" y="2423160"/>
            <a:ext cx="1645920" cy="640080"/>
          </a:xfrm>
          <a:prstGeom prst="roundRect">
            <a:avLst>
              <a:gd name="adj" fmla="val 5000"/>
            </a:avLst>
          </a:prstGeom>
          <a:solidFill>
            <a:srgbClr val="1A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React 18</a:t>
            </a:r>
            <a:br/>
            <a:r>
              <a:t>Components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09360" y="2423160"/>
            <a:ext cx="1645920" cy="640080"/>
          </a:xfrm>
          <a:prstGeom prst="roundRect">
            <a:avLst>
              <a:gd name="adj" fmla="val 5000"/>
            </a:avLst>
          </a:prstGeom>
          <a:solidFill>
            <a:srgbClr val="1A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Recharts</a:t>
            </a:r>
            <a:br/>
            <a:r>
              <a:t>Visualizations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229600" y="2423160"/>
            <a:ext cx="1645920" cy="640080"/>
          </a:xfrm>
          <a:prstGeom prst="roundRect">
            <a:avLst>
              <a:gd name="adj" fmla="val 5000"/>
            </a:avLst>
          </a:prstGeom>
          <a:solidFill>
            <a:srgbClr val="1A23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SWR</a:t>
            </a:r>
            <a:br/>
            <a:r>
              <a:t>Data Fetching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3383280"/>
            <a:ext cx="3017520" cy="36576"/>
          </a:xfrm>
          <a:prstGeom prst="rect">
            <a:avLst/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Isosceles Triangle 13"/>
          <p:cNvSpPr/>
          <p:nvPr/>
        </p:nvSpPr>
        <p:spPr>
          <a:xfrm rot="16200000">
            <a:off x="4526280" y="3310128"/>
            <a:ext cx="182880" cy="182880"/>
          </a:xfrm>
          <a:prstGeom prst="triangle">
            <a:avLst/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Isosceles Triangle 14"/>
          <p:cNvSpPr/>
          <p:nvPr/>
        </p:nvSpPr>
        <p:spPr>
          <a:xfrm rot="5400000">
            <a:off x="7452360" y="3310128"/>
            <a:ext cx="182880" cy="182880"/>
          </a:xfrm>
          <a:prstGeom prst="triangle">
            <a:avLst/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24628" y="3063240"/>
            <a:ext cx="2112264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FECA57"/>
                </a:solidFill>
                <a:latin typeface="Arial"/>
              </a:defRPr>
            </a:pPr>
            <a:r>
              <a:t>REST API (JSON)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57200" y="3566160"/>
            <a:ext cx="11247120" cy="2743200"/>
          </a:xfrm>
          <a:prstGeom prst="roundRect">
            <a:avLst>
              <a:gd name="adj" fmla="val 5000"/>
            </a:avLst>
          </a:prstGeom>
          <a:solidFill>
            <a:srgbClr val="1B5E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3611880"/>
            <a:ext cx="1828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1">
                <a:solidFill>
                  <a:srgbClr val="4ECB71"/>
                </a:solidFill>
                <a:latin typeface="Arial"/>
              </a:defRPr>
            </a:pPr>
            <a:r>
              <a:t>BACKEND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31520" y="3977639"/>
            <a:ext cx="2103120" cy="54864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4ECB71"/>
                </a:solidFill>
                <a:latin typeface="Arial"/>
              </a:defRPr>
            </a:pPr>
            <a:r>
              <a:t>FastAPI Router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017520" y="3931920"/>
            <a:ext cx="1371600" cy="274320"/>
          </a:xfrm>
          <a:prstGeom prst="roundRect">
            <a:avLst>
              <a:gd name="adj" fmla="val 5000"/>
            </a:avLst>
          </a:prstGeom>
          <a:solidFill>
            <a:srgbClr val="2D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0B0C0"/>
                </a:solidFill>
                <a:latin typeface="Arial"/>
              </a:defRPr>
            </a:pPr>
            <a:r>
              <a:t>simulation.py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480560" y="3931920"/>
            <a:ext cx="1371600" cy="274320"/>
          </a:xfrm>
          <a:prstGeom prst="roundRect">
            <a:avLst>
              <a:gd name="adj" fmla="val 5000"/>
            </a:avLst>
          </a:prstGeom>
          <a:solidFill>
            <a:srgbClr val="2D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0B0C0"/>
                </a:solidFill>
                <a:latin typeface="Arial"/>
              </a:defRPr>
            </a:pPr>
            <a:r>
              <a:t>predictions.py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943600" y="3931920"/>
            <a:ext cx="1371600" cy="274320"/>
          </a:xfrm>
          <a:prstGeom prst="roundRect">
            <a:avLst>
              <a:gd name="adj" fmla="val 5000"/>
            </a:avLst>
          </a:prstGeom>
          <a:solidFill>
            <a:srgbClr val="2D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0B0C0"/>
                </a:solidFill>
                <a:latin typeface="Arial"/>
              </a:defRPr>
            </a:pPr>
            <a:r>
              <a:t>districts.py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3017520" y="4251960"/>
            <a:ext cx="1371600" cy="274320"/>
          </a:xfrm>
          <a:prstGeom prst="roundRect">
            <a:avLst>
              <a:gd name="adj" fmla="val 5000"/>
            </a:avLst>
          </a:prstGeom>
          <a:solidFill>
            <a:srgbClr val="2D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0B0C0"/>
                </a:solidFill>
                <a:latin typeface="Arial"/>
              </a:defRPr>
            </a:pPr>
            <a:r>
              <a:t>manifesto.py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480560" y="4251960"/>
            <a:ext cx="1371600" cy="274320"/>
          </a:xfrm>
          <a:prstGeom prst="roundRect">
            <a:avLst>
              <a:gd name="adj" fmla="val 5000"/>
            </a:avLst>
          </a:prstGeom>
          <a:solidFill>
            <a:srgbClr val="2D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0B0C0"/>
                </a:solidFill>
                <a:latin typeface="Arial"/>
              </a:defRPr>
            </a:pPr>
            <a:r>
              <a:t>personas.py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5943600" y="4251960"/>
            <a:ext cx="1371600" cy="274320"/>
          </a:xfrm>
          <a:prstGeom prst="roundRect">
            <a:avLst>
              <a:gd name="adj" fmla="val 5000"/>
            </a:avLst>
          </a:prstGeom>
          <a:solidFill>
            <a:srgbClr val="2D385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>
                <a:solidFill>
                  <a:srgbClr val="B0B0C0"/>
                </a:solidFill>
                <a:latin typeface="Arial"/>
              </a:defRPr>
            </a:pPr>
            <a:r>
              <a:t>news.py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31520" y="4754880"/>
            <a:ext cx="2560320" cy="64008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SimulationEngine</a:t>
            </a:r>
            <a:br/>
            <a:r>
              <a:t>6-Factor Model + LLM</a:t>
            </a:r>
          </a:p>
        </p:txBody>
      </p:sp>
      <p:sp>
        <p:nvSpPr>
          <p:cNvPr id="27" name="Rectangle 26"/>
          <p:cNvSpPr/>
          <p:nvPr/>
        </p:nvSpPr>
        <p:spPr>
          <a:xfrm>
            <a:off x="822960" y="4754880"/>
            <a:ext cx="365760" cy="36576"/>
          </a:xfrm>
          <a:prstGeom prst="rect">
            <a:avLst/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3474720" y="4754880"/>
            <a:ext cx="2286000" cy="64008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PredictionPipeline</a:t>
            </a:r>
            <a:br/>
            <a:r>
              <a:t>Multi-AI Orchestration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566160" y="4754880"/>
            <a:ext cx="36576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5943600" y="4754880"/>
            <a:ext cx="2286000" cy="64008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ExperimentManager</a:t>
            </a:r>
            <a:br/>
            <a:r>
              <a:t>Versioned Experiments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035040" y="4754880"/>
            <a:ext cx="365760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8503920" y="4754880"/>
            <a:ext cx="2011680" cy="64008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>
                <a:solidFill>
                  <a:srgbClr val="FFFFFF"/>
                </a:solidFill>
                <a:latin typeface="Arial"/>
              </a:defRPr>
            </a:pPr>
            <a:r>
              <a:t>APScheduler</a:t>
            </a:r>
            <a:br/>
            <a:r>
              <a:t>Cron Jobs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8595360" y="4754880"/>
            <a:ext cx="365760" cy="36576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1828800" y="5486400"/>
            <a:ext cx="36576" cy="45720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Isosceles Triangle 34"/>
          <p:cNvSpPr/>
          <p:nvPr/>
        </p:nvSpPr>
        <p:spPr>
          <a:xfrm rot="10800000">
            <a:off x="1755648" y="5806440"/>
            <a:ext cx="182880" cy="182880"/>
          </a:xfrm>
          <a:prstGeom prst="triangle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965960" y="5623560"/>
            <a:ext cx="13716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4ECB71"/>
                </a:solidFill>
                <a:latin typeface="Arial"/>
              </a:defRPr>
            </a:pPr>
            <a:r>
              <a:t>SQL</a:t>
            </a:r>
          </a:p>
        </p:txBody>
      </p:sp>
      <p:sp>
        <p:nvSpPr>
          <p:cNvPr id="37" name="Rectangle 36"/>
          <p:cNvSpPr/>
          <p:nvPr/>
        </p:nvSpPr>
        <p:spPr>
          <a:xfrm>
            <a:off x="5943600" y="5577840"/>
            <a:ext cx="1828800" cy="36576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 rot="5400000">
            <a:off x="7635240" y="5504688"/>
            <a:ext cx="182880" cy="182880"/>
          </a:xfrm>
          <a:prstGeom prst="triangle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ounded Rectangle 38"/>
          <p:cNvSpPr/>
          <p:nvPr/>
        </p:nvSpPr>
        <p:spPr>
          <a:xfrm>
            <a:off x="731520" y="5943600"/>
            <a:ext cx="2286000" cy="640080"/>
          </a:xfrm>
          <a:prstGeom prst="roundRect">
            <a:avLst>
              <a:gd name="adj" fmla="val 5000"/>
            </a:avLst>
          </a:prstGeom>
          <a:solidFill>
            <a:srgbClr val="E651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PostgreSQL / SQLite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3657600" y="5943600"/>
            <a:ext cx="2103120" cy="640080"/>
          </a:xfrm>
          <a:prstGeom prst="roundRect">
            <a:avLst>
              <a:gd name="adj" fmla="val 5000"/>
            </a:avLst>
          </a:prstGeom>
          <a:solidFill>
            <a:srgbClr val="8800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  <a:latin typeface="Arial"/>
              </a:defRPr>
            </a:pPr>
            <a:r>
              <a:t>OpenRouter API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6217920" y="5943600"/>
            <a:ext cx="1371600" cy="64008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00D2FF"/>
                </a:solidFill>
                <a:latin typeface="Arial"/>
              </a:defRPr>
            </a:pPr>
            <a:r>
              <a:t>Perplexity</a:t>
            </a:r>
            <a:br/>
            <a:r>
              <a:t>sonar-pro</a:t>
            </a:r>
          </a:p>
        </p:txBody>
      </p:sp>
      <p:sp>
        <p:nvSpPr>
          <p:cNvPr id="42" name="Rounded Rectangle 41"/>
          <p:cNvSpPr/>
          <p:nvPr/>
        </p:nvSpPr>
        <p:spPr>
          <a:xfrm>
            <a:off x="7772400" y="5943600"/>
            <a:ext cx="1371600" cy="64008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FF6B6B"/>
                </a:solidFill>
                <a:latin typeface="Arial"/>
              </a:defRPr>
            </a:pPr>
            <a:r>
              <a:t>Grok-3</a:t>
            </a:r>
            <a:br/>
            <a:r>
              <a:t>SNS/X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9326880" y="5943600"/>
            <a:ext cx="1371600" cy="64008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2540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1">
                <a:solidFill>
                  <a:srgbClr val="4ECB71"/>
                </a:solidFill>
                <a:latin typeface="Arial"/>
              </a:defRPr>
            </a:pPr>
            <a:r>
              <a:t>Claude</a:t>
            </a:r>
            <a:br/>
            <a:r>
              <a:t>sonnet-4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760720" y="6263640"/>
            <a:ext cx="457200" cy="36576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Isosceles Triangle 44"/>
          <p:cNvSpPr/>
          <p:nvPr/>
        </p:nvSpPr>
        <p:spPr>
          <a:xfrm rot="5400000">
            <a:off x="6080760" y="6190488"/>
            <a:ext cx="182880" cy="182880"/>
          </a:xfrm>
          <a:prstGeom prst="triangle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Simulation Data Flow  |  シミュレーション データフロー図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188720"/>
            <a:ext cx="2194560" cy="164592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188720"/>
            <a:ext cx="2194560" cy="36576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11480" y="16916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Arial"/>
              </a:defRPr>
            </a:pPr>
            <a:r>
              <a:t>Persona Config</a:t>
            </a:r>
            <a:br/>
            <a:r>
              <a:t>15 Archetypes</a:t>
            </a:r>
            <a:br/>
            <a:r>
              <a:t>289 Districts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743200" y="1188720"/>
            <a:ext cx="2194560" cy="164592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2540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2743200" y="1188720"/>
            <a:ext cx="2194560" cy="36576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GENERATE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16916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Arial"/>
              </a:defRPr>
            </a:pPr>
            <a:r>
              <a:t>PersonaGenerator</a:t>
            </a:r>
            <a:br/>
            <a:r>
              <a:t>100 Personas/District</a:t>
            </a:r>
            <a:br/>
            <a:r>
              <a:t>= 28,900 Total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212080" y="1188720"/>
            <a:ext cx="2194560" cy="164592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25400">
            <a:solidFill>
              <a:srgbClr val="FEC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212080" y="1188720"/>
            <a:ext cx="2194560" cy="365760"/>
          </a:xfrm>
          <a:prstGeom prst="rect">
            <a:avLst/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CALCULATE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349240" y="16916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Arial"/>
              </a:defRPr>
            </a:pPr>
            <a:r>
              <a:t>VoteCalculator</a:t>
            </a:r>
            <a:br/>
            <a:r>
              <a:t>6-Factor Model</a:t>
            </a:r>
            <a:br/>
            <a:r>
              <a:t>Weighted Scoring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680960" y="1188720"/>
            <a:ext cx="2194560" cy="164592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2540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7680960" y="1188720"/>
            <a:ext cx="2194560" cy="36576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DECIDE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18120" y="16916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Arial"/>
              </a:defRPr>
            </a:pPr>
            <a:r>
              <a:t>Tier1: Rule-based</a:t>
            </a:r>
            <a:br/>
            <a:r>
              <a:t>Tier2: LLM(Claude)</a:t>
            </a:r>
            <a:br/>
            <a:r>
              <a:t>Swing Voter Analysis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10149840" y="1188720"/>
            <a:ext cx="2194560" cy="164592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0149840" y="1188720"/>
            <a:ext cx="2194560" cy="36576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287000" y="1691640"/>
            <a:ext cx="192024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Arial"/>
              </a:defRPr>
            </a:pPr>
            <a:r>
              <a:t>ResultAggregator</a:t>
            </a:r>
            <a:br/>
            <a:r>
              <a:t>Winner + Votes</a:t>
            </a:r>
            <a:br/>
            <a:r>
              <a:t>Validation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468880" y="2011680"/>
            <a:ext cx="274320" cy="36576"/>
          </a:xfrm>
          <a:prstGeom prst="rect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Isosceles Triangle 18"/>
          <p:cNvSpPr/>
          <p:nvPr/>
        </p:nvSpPr>
        <p:spPr>
          <a:xfrm rot="5400000">
            <a:off x="2606040" y="1938528"/>
            <a:ext cx="182880" cy="182880"/>
          </a:xfrm>
          <a:prstGeom prst="triangle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937760" y="2011680"/>
            <a:ext cx="274320" cy="36576"/>
          </a:xfrm>
          <a:prstGeom prst="rect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Isosceles Triangle 20"/>
          <p:cNvSpPr/>
          <p:nvPr/>
        </p:nvSpPr>
        <p:spPr>
          <a:xfrm rot="5400000">
            <a:off x="5074920" y="1938528"/>
            <a:ext cx="182880" cy="182880"/>
          </a:xfrm>
          <a:prstGeom prst="triangle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7406640" y="2011680"/>
            <a:ext cx="274320" cy="36576"/>
          </a:xfrm>
          <a:prstGeom prst="rect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5400000">
            <a:off x="7543800" y="1938528"/>
            <a:ext cx="182880" cy="182880"/>
          </a:xfrm>
          <a:prstGeom prst="triangle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9875520" y="2011680"/>
            <a:ext cx="274320" cy="36576"/>
          </a:xfrm>
          <a:prstGeom prst="rect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10012680" y="1938528"/>
            <a:ext cx="182880" cy="182880"/>
          </a:xfrm>
          <a:prstGeom prst="triangle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457200" y="31089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6-Factor Voting Model Detail  |  6因子投票モデル詳細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274320" y="3657600"/>
            <a:ext cx="1828800" cy="164592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1463040" y="3749040"/>
            <a:ext cx="548640" cy="274320"/>
          </a:xfrm>
          <a:prstGeom prst="roundRect">
            <a:avLst>
              <a:gd name="adj" fmla="val 5000"/>
            </a:avLst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30%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365760" y="3749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00D2FF"/>
                </a:solidFill>
                <a:latin typeface="Arial"/>
              </a:defRPr>
            </a:pPr>
            <a:r>
              <a:t>Party Loyalty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65760" y="41148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Arial"/>
              </a:defRPr>
            </a:pPr>
            <a:r>
              <a:t>歴史的投票パターン</a:t>
            </a:r>
            <a:br/>
            <a:r>
              <a:t>政党支持率データ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2240280" y="3657600"/>
            <a:ext cx="1828800" cy="164592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429000" y="3749040"/>
            <a:ext cx="548640" cy="274320"/>
          </a:xfrm>
          <a:prstGeom prst="roundRect">
            <a:avLst>
              <a:gd name="adj" fmla="val 5000"/>
            </a:avLst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25%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331720" y="3749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4ECB71"/>
                </a:solidFill>
                <a:latin typeface="Arial"/>
              </a:defRPr>
            </a:pPr>
            <a:r>
              <a:t>Policy Align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2331720" y="41148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Arial"/>
              </a:defRPr>
            </a:pPr>
            <a:r>
              <a:t>マニフェスト一致度</a:t>
            </a:r>
            <a:br/>
            <a:r>
              <a:t>13政党×政策分野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4206240" y="3657600"/>
            <a:ext cx="1828800" cy="164592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Rounded Rectangle 35"/>
          <p:cNvSpPr/>
          <p:nvPr/>
        </p:nvSpPr>
        <p:spPr>
          <a:xfrm>
            <a:off x="5394960" y="3749040"/>
            <a:ext cx="548640" cy="274320"/>
          </a:xfrm>
          <a:prstGeom prst="roundRect">
            <a:avLst>
              <a:gd name="adj" fmla="val 5000"/>
            </a:avLst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20%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97680" y="3749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ECA57"/>
                </a:solidFill>
                <a:latin typeface="Arial"/>
              </a:defRPr>
            </a:pPr>
            <a:r>
              <a:t>Candidate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4297680" y="41148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Arial"/>
              </a:defRPr>
            </a:pPr>
            <a:r>
              <a:t>現職優位性</a:t>
            </a:r>
            <a:br/>
            <a:r>
              <a:t>候補者プロフィール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6172200" y="3657600"/>
            <a:ext cx="1828800" cy="164592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ounded Rectangle 39"/>
          <p:cNvSpPr/>
          <p:nvPr/>
        </p:nvSpPr>
        <p:spPr>
          <a:xfrm>
            <a:off x="7360920" y="3749040"/>
            <a:ext cx="548640" cy="274320"/>
          </a:xfrm>
          <a:prstGeom prst="roundRect">
            <a:avLst>
              <a:gd name="adj" fmla="val 5000"/>
            </a:avLst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10%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6263640" y="3749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F6B6B"/>
                </a:solidFill>
                <a:latin typeface="Arial"/>
              </a:defRPr>
            </a:pPr>
            <a:r>
              <a:t>Media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263640" y="41148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Arial"/>
              </a:defRPr>
            </a:pPr>
            <a:r>
              <a:t>ニュース露出度</a:t>
            </a:r>
            <a:br/>
            <a:r>
              <a:t>SNS話題性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8138160" y="3657600"/>
            <a:ext cx="1828800" cy="164592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ounded Rectangle 43"/>
          <p:cNvSpPr/>
          <p:nvPr/>
        </p:nvSpPr>
        <p:spPr>
          <a:xfrm>
            <a:off x="9326880" y="3749040"/>
            <a:ext cx="548640" cy="274320"/>
          </a:xfrm>
          <a:prstGeom prst="roundRect">
            <a:avLst>
              <a:gd name="adj" fmla="val 5000"/>
            </a:avLst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10%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229600" y="3749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B86FC"/>
                </a:solidFill>
                <a:latin typeface="Arial"/>
              </a:defRPr>
            </a:pPr>
            <a:r>
              <a:t>Regional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229600" y="41148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Arial"/>
              </a:defRPr>
            </a:pPr>
            <a:r>
              <a:t>地域ネットワーク</a:t>
            </a:r>
            <a:br/>
            <a:r>
              <a:t>地元密着度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104120" y="3657600"/>
            <a:ext cx="1828800" cy="164592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ounded Rectangle 47"/>
          <p:cNvSpPr/>
          <p:nvPr/>
        </p:nvSpPr>
        <p:spPr>
          <a:xfrm>
            <a:off x="11292840" y="3749040"/>
            <a:ext cx="548640" cy="274320"/>
          </a:xfrm>
          <a:prstGeom prst="roundRect">
            <a:avLst>
              <a:gd name="adj" fmla="val 5000"/>
            </a:avLst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000" b="1">
                <a:solidFill>
                  <a:srgbClr val="FFFFFF"/>
                </a:solidFill>
                <a:latin typeface="Arial"/>
              </a:defRPr>
            </a:pPr>
            <a:r>
              <a:t>5%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10195560" y="3749040"/>
            <a:ext cx="1097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B0B0C0"/>
                </a:solidFill>
                <a:latin typeface="Arial"/>
              </a:defRPr>
            </a:pPr>
            <a:r>
              <a:t>Strategic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195560" y="4114800"/>
            <a:ext cx="1645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Arial"/>
              </a:defRPr>
            </a:pPr>
            <a:r>
              <a:t>戦略投票行動</a:t>
            </a:r>
            <a:br/>
            <a:r>
              <a:t>極端な結果の回避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457200" y="548640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Two-Tier Decision Flow  |  2層判定フロー</a:t>
            </a:r>
          </a:p>
        </p:txBody>
      </p:sp>
      <p:sp>
        <p:nvSpPr>
          <p:cNvPr id="52" name="Rounded Rectangle 51"/>
          <p:cNvSpPr/>
          <p:nvPr/>
        </p:nvSpPr>
        <p:spPr>
          <a:xfrm>
            <a:off x="457200" y="5852160"/>
            <a:ext cx="2011680" cy="82296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19050">
            <a:solidFill>
              <a:srgbClr val="B0B0C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ALL PERSONAS</a:t>
            </a:r>
            <a:br/>
            <a:r>
              <a:t>28,900 Voters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2743200" y="5852160"/>
            <a:ext cx="2011680" cy="82296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19050">
            <a:solidFill>
              <a:srgbClr val="FEC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Confidence</a:t>
            </a:r>
            <a:br/>
            <a:r>
              <a:t>Check</a:t>
            </a:r>
            <a:br/>
            <a:r>
              <a:t>&gt; 0.6 ?</a:t>
            </a:r>
          </a:p>
        </p:txBody>
      </p:sp>
      <p:sp>
        <p:nvSpPr>
          <p:cNvPr id="54" name="Rounded Rectangle 53"/>
          <p:cNvSpPr/>
          <p:nvPr/>
        </p:nvSpPr>
        <p:spPr>
          <a:xfrm>
            <a:off x="5029200" y="5852160"/>
            <a:ext cx="2011680" cy="82296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Tier 1</a:t>
            </a:r>
            <a:br/>
            <a:r>
              <a:t>Rule-based</a:t>
            </a:r>
            <a:br/>
            <a:r>
              <a:t>Fast Decision</a:t>
            </a:r>
            <a:br/>
            <a:r>
              <a:t>~85% of voters</a:t>
            </a:r>
          </a:p>
        </p:txBody>
      </p:sp>
      <p:sp>
        <p:nvSpPr>
          <p:cNvPr id="55" name="Rounded Rectangle 54"/>
          <p:cNvSpPr/>
          <p:nvPr/>
        </p:nvSpPr>
        <p:spPr>
          <a:xfrm>
            <a:off x="7315200" y="5852160"/>
            <a:ext cx="2011680" cy="82296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Tier 2</a:t>
            </a:r>
            <a:br/>
            <a:r>
              <a:t>LLM (Claude)</a:t>
            </a:r>
            <a:br/>
            <a:r>
              <a:t>Batch Analysis</a:t>
            </a:r>
            <a:br/>
            <a:r>
              <a:t>~15% swing voters</a:t>
            </a:r>
          </a:p>
        </p:txBody>
      </p:sp>
      <p:sp>
        <p:nvSpPr>
          <p:cNvPr id="56" name="Rounded Rectangle 55"/>
          <p:cNvSpPr/>
          <p:nvPr/>
        </p:nvSpPr>
        <p:spPr>
          <a:xfrm>
            <a:off x="9875520" y="5852160"/>
            <a:ext cx="2011680" cy="82296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FINAL</a:t>
            </a:r>
            <a:br/>
            <a:r>
              <a:t>RESULT</a:t>
            </a:r>
            <a:br/>
            <a:r>
              <a:t>District Winner</a:t>
            </a:r>
            <a:br/>
            <a:r>
              <a:t>+ Vote Share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468880" y="6263640"/>
            <a:ext cx="274320" cy="36576"/>
          </a:xfrm>
          <a:prstGeom prst="rect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Isosceles Triangle 57"/>
          <p:cNvSpPr/>
          <p:nvPr/>
        </p:nvSpPr>
        <p:spPr>
          <a:xfrm rot="5400000">
            <a:off x="2606040" y="6190488"/>
            <a:ext cx="182880" cy="182880"/>
          </a:xfrm>
          <a:prstGeom prst="triangle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754880" y="6263640"/>
            <a:ext cx="274320" cy="36576"/>
          </a:xfrm>
          <a:prstGeom prst="rect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Isosceles Triangle 59"/>
          <p:cNvSpPr/>
          <p:nvPr/>
        </p:nvSpPr>
        <p:spPr>
          <a:xfrm rot="5400000">
            <a:off x="4892040" y="6190488"/>
            <a:ext cx="182880" cy="182880"/>
          </a:xfrm>
          <a:prstGeom prst="triangle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7040880" y="6263640"/>
            <a:ext cx="274320" cy="36576"/>
          </a:xfrm>
          <a:prstGeom prst="rect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Isosceles Triangle 61"/>
          <p:cNvSpPr/>
          <p:nvPr/>
        </p:nvSpPr>
        <p:spPr>
          <a:xfrm rot="5400000">
            <a:off x="7178040" y="6190488"/>
            <a:ext cx="182880" cy="182880"/>
          </a:xfrm>
          <a:prstGeom prst="triangle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9326880" y="6263640"/>
            <a:ext cx="548640" cy="36576"/>
          </a:xfrm>
          <a:prstGeom prst="rect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Isosceles Triangle 63"/>
          <p:cNvSpPr/>
          <p:nvPr/>
        </p:nvSpPr>
        <p:spPr>
          <a:xfrm rot="5400000">
            <a:off x="9738360" y="6190488"/>
            <a:ext cx="182880" cy="182880"/>
          </a:xfrm>
          <a:prstGeom prst="triangle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2743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AI Prediction Pipeline Flow  |  AI予測パイプライン フロー図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74320" y="109728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2540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274320" y="1097280"/>
            <a:ext cx="2286000" cy="32004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INPUT DATA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5760" y="15087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Arial"/>
              </a:defRPr>
            </a:pPr>
            <a:r>
              <a:t>47 Prefectures</a:t>
            </a:r>
            <a:br/>
            <a:r>
              <a:t>Candidate Data</a:t>
            </a:r>
            <a:br/>
            <a:r>
              <a:t>13-Party Manifesto</a:t>
            </a:r>
            <a:br/>
            <a:r>
              <a:t>Demographics</a:t>
            </a:r>
            <a:br/>
            <a:r>
              <a:t>Regional Issues</a:t>
            </a:r>
          </a:p>
        </p:txBody>
      </p:sp>
      <p:sp>
        <p:nvSpPr>
          <p:cNvPr id="6" name="Rectangle 5"/>
          <p:cNvSpPr/>
          <p:nvPr/>
        </p:nvSpPr>
        <p:spPr>
          <a:xfrm>
            <a:off x="2560320" y="2011680"/>
            <a:ext cx="457200" cy="36576"/>
          </a:xfrm>
          <a:prstGeom prst="rect">
            <a:avLst/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Isosceles Triangle 6"/>
          <p:cNvSpPr/>
          <p:nvPr/>
        </p:nvSpPr>
        <p:spPr>
          <a:xfrm rot="5400000">
            <a:off x="2880360" y="1938528"/>
            <a:ext cx="182880" cy="182880"/>
          </a:xfrm>
          <a:prstGeom prst="triangle">
            <a:avLst/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017520" y="914400"/>
            <a:ext cx="5943600" cy="2286000"/>
          </a:xfrm>
          <a:prstGeom prst="roundRect">
            <a:avLst>
              <a:gd name="adj" fmla="val 5000"/>
            </a:avLst>
          </a:prstGeom>
          <a:solidFill>
            <a:srgbClr val="16213E"/>
          </a:solidFill>
          <a:ln w="25400">
            <a:solidFill>
              <a:srgbClr val="FEC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200400" y="960120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1">
                <a:solidFill>
                  <a:srgbClr val="FECA57"/>
                </a:solidFill>
                <a:latin typeface="Arial"/>
              </a:defRPr>
            </a:pPr>
            <a:r>
              <a:t>PARALLEL AI ANALYSIS  (max 5 prefectures concurrent)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00400" y="1371600"/>
            <a:ext cx="1645920" cy="164592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291840" y="1417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0D2FF"/>
                </a:solidFill>
                <a:latin typeface="Arial"/>
              </a:defRPr>
            </a:pPr>
            <a:r>
              <a:t>Perplexity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91840" y="16916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0C0"/>
                </a:solidFill>
                <a:latin typeface="Arial"/>
              </a:defRPr>
            </a:pPr>
            <a:r>
              <a:t>sonar-pro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196596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Arial"/>
              </a:defRPr>
            </a:pPr>
            <a:r>
              <a:t>News Search</a:t>
            </a:r>
            <a:br/>
            <a:r>
              <a:t>Polling Data</a:t>
            </a:r>
            <a:br/>
            <a:r>
              <a:t>Media Analysis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0" y="1371600"/>
            <a:ext cx="1645920" cy="164592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120640" y="1417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FF6B6B"/>
                </a:solidFill>
                <a:latin typeface="Arial"/>
              </a:defRPr>
            </a:pPr>
            <a:r>
              <a:t>Grok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120640" y="16916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0C0"/>
                </a:solidFill>
                <a:latin typeface="Arial"/>
              </a:defRPr>
            </a:pPr>
            <a:r>
              <a:t>grok-3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120640" y="196596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Arial"/>
              </a:defRPr>
            </a:pPr>
            <a:r>
              <a:t>X/Twitter Data</a:t>
            </a:r>
            <a:br/>
            <a:r>
              <a:t>Sentiment Trends</a:t>
            </a:r>
            <a:br/>
            <a:r>
              <a:t>SNS Buzz Analysis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7040880" y="1371600"/>
            <a:ext cx="1645920" cy="164592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132320" y="1417320"/>
            <a:ext cx="146304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4ECB71"/>
                </a:solidFill>
                <a:latin typeface="Arial"/>
              </a:defRPr>
            </a:pPr>
            <a:r>
              <a:t>Claude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0" y="1691640"/>
            <a:ext cx="146304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00" b="0">
                <a:solidFill>
                  <a:srgbClr val="B0B0C0"/>
                </a:solidFill>
                <a:latin typeface="Arial"/>
              </a:defRPr>
            </a:pPr>
            <a:r>
              <a:t>claude-sonnet-4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132320" y="1965960"/>
            <a:ext cx="14630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900" b="0">
                <a:solidFill>
                  <a:srgbClr val="B0B0C0"/>
                </a:solidFill>
                <a:latin typeface="Arial"/>
              </a:defRPr>
            </a:pPr>
            <a:r>
              <a:t>Integration</a:t>
            </a:r>
            <a:br/>
            <a:r>
              <a:t>Final Judgment</a:t>
            </a:r>
            <a:br/>
            <a:r>
              <a:t>Winner Prediction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4846320" y="2194560"/>
            <a:ext cx="182880" cy="36576"/>
          </a:xfrm>
          <a:prstGeom prst="rect">
            <a:avLst/>
          </a:prstGeom>
          <a:solidFill>
            <a:srgbClr val="66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Isosceles Triangle 22"/>
          <p:cNvSpPr/>
          <p:nvPr/>
        </p:nvSpPr>
        <p:spPr>
          <a:xfrm rot="5400000">
            <a:off x="4892040" y="2121408"/>
            <a:ext cx="182880" cy="182880"/>
          </a:xfrm>
          <a:prstGeom prst="triangle">
            <a:avLst/>
          </a:prstGeom>
          <a:solidFill>
            <a:srgbClr val="66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675120" y="2194560"/>
            <a:ext cx="365760" cy="36576"/>
          </a:xfrm>
          <a:prstGeom prst="rect">
            <a:avLst/>
          </a:prstGeom>
          <a:solidFill>
            <a:srgbClr val="66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Isosceles Triangle 24"/>
          <p:cNvSpPr/>
          <p:nvPr/>
        </p:nvSpPr>
        <p:spPr>
          <a:xfrm rot="5400000">
            <a:off x="6903720" y="2121408"/>
            <a:ext cx="182880" cy="182880"/>
          </a:xfrm>
          <a:prstGeom prst="triangle">
            <a:avLst/>
          </a:prstGeom>
          <a:solidFill>
            <a:srgbClr val="6666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8961120" y="2011680"/>
            <a:ext cx="457200" cy="36576"/>
          </a:xfrm>
          <a:prstGeom prst="rect">
            <a:avLst/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Isosceles Triangle 26"/>
          <p:cNvSpPr/>
          <p:nvPr/>
        </p:nvSpPr>
        <p:spPr>
          <a:xfrm rot="5400000">
            <a:off x="9281160" y="1938528"/>
            <a:ext cx="182880" cy="182880"/>
          </a:xfrm>
          <a:prstGeom prst="triangle">
            <a:avLst/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418320" y="1097280"/>
            <a:ext cx="2286000" cy="18288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2540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9418320" y="1097280"/>
            <a:ext cx="2286000" cy="32004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FFFFF"/>
                </a:solidFill>
                <a:latin typeface="Arial"/>
              </a:defRPr>
            </a:pPr>
            <a:r>
              <a:t>OUTPUT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509760" y="1508760"/>
            <a:ext cx="21031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 b="0">
                <a:solidFill>
                  <a:srgbClr val="B0B0C0"/>
                </a:solidFill>
                <a:latin typeface="Arial"/>
              </a:defRPr>
            </a:pPr>
            <a:r>
              <a:t>District Winners</a:t>
            </a:r>
            <a:br/>
            <a:r>
              <a:t>Confidence Scores</a:t>
            </a:r>
            <a:br/>
            <a:r>
              <a:t>PR Block Allocation</a:t>
            </a:r>
            <a:br/>
            <a:r>
              <a:t>Batch Summary</a:t>
            </a:r>
            <a:br/>
            <a:r>
              <a:t>Experiment Meta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57200" y="34747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OpenRouter Communication Flow  |  OpenRouter通信フロー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457200" y="402336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Backend</a:t>
            </a:r>
            <a:br/>
            <a:r>
              <a:t>Service</a:t>
            </a:r>
            <a:br/>
            <a:r>
              <a:t>httpx async</a:t>
            </a:r>
            <a:br/>
            <a:r>
              <a:t>client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2743200" y="402336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19050">
            <a:solidFill>
              <a:srgbClr val="FEC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Rate Limiter</a:t>
            </a:r>
            <a:br/>
            <a:r>
              <a:t>&amp; Retry</a:t>
            </a:r>
            <a:br/>
            <a:r>
              <a:t>Throttle</a:t>
            </a:r>
            <a:br/>
            <a:r>
              <a:t>Error handling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5029200" y="402336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OpenRouter</a:t>
            </a:r>
            <a:br/>
            <a:r>
              <a:t>API</a:t>
            </a:r>
            <a:br/>
            <a:r>
              <a:t>Unified endpoint</a:t>
            </a:r>
            <a:br/>
            <a:r>
              <a:t>Model routing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7315200" y="402336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LLM Model</a:t>
            </a:r>
            <a:br/>
            <a:r>
              <a:t>Execution</a:t>
            </a:r>
            <a:br/>
            <a:r>
              <a:t>Perplexity/Grok</a:t>
            </a:r>
            <a:br/>
            <a:r>
              <a:t>/Claude</a:t>
            </a:r>
          </a:p>
        </p:txBody>
      </p:sp>
      <p:sp>
        <p:nvSpPr>
          <p:cNvPr id="36" name="Rounded Rectangle 35"/>
          <p:cNvSpPr/>
          <p:nvPr/>
        </p:nvSpPr>
        <p:spPr>
          <a:xfrm>
            <a:off x="9601200" y="4023360"/>
            <a:ext cx="2011680" cy="9144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JSON</a:t>
            </a:r>
            <a:br/>
            <a:r>
              <a:t>Response</a:t>
            </a:r>
            <a:br/>
            <a:r>
              <a:t>Structured output</a:t>
            </a:r>
            <a:br/>
            <a:r>
              <a:t>Parsed result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468880" y="4480560"/>
            <a:ext cx="274320" cy="36576"/>
          </a:xfrm>
          <a:prstGeom prst="rect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Isosceles Triangle 37"/>
          <p:cNvSpPr/>
          <p:nvPr/>
        </p:nvSpPr>
        <p:spPr>
          <a:xfrm rot="5400000">
            <a:off x="2606040" y="4407408"/>
            <a:ext cx="182880" cy="182880"/>
          </a:xfrm>
          <a:prstGeom prst="triangle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4754880" y="4480560"/>
            <a:ext cx="274320" cy="36576"/>
          </a:xfrm>
          <a:prstGeom prst="rect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Isosceles Triangle 39"/>
          <p:cNvSpPr/>
          <p:nvPr/>
        </p:nvSpPr>
        <p:spPr>
          <a:xfrm rot="5400000">
            <a:off x="4892040" y="4407408"/>
            <a:ext cx="182880" cy="182880"/>
          </a:xfrm>
          <a:prstGeom prst="triangle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7040880" y="4480560"/>
            <a:ext cx="274320" cy="36576"/>
          </a:xfrm>
          <a:prstGeom prst="rect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Isosceles Triangle 41"/>
          <p:cNvSpPr/>
          <p:nvPr/>
        </p:nvSpPr>
        <p:spPr>
          <a:xfrm rot="5400000">
            <a:off x="7178040" y="4407408"/>
            <a:ext cx="182880" cy="182880"/>
          </a:xfrm>
          <a:prstGeom prst="triangle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9326880" y="4480560"/>
            <a:ext cx="274320" cy="36576"/>
          </a:xfrm>
          <a:prstGeom prst="rect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Isosceles Triangle 43"/>
          <p:cNvSpPr/>
          <p:nvPr/>
        </p:nvSpPr>
        <p:spPr>
          <a:xfrm rot="5400000">
            <a:off x="9464040" y="4407408"/>
            <a:ext cx="182880" cy="182880"/>
          </a:xfrm>
          <a:prstGeom prst="triangle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457200" y="521208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rial"/>
              </a:defRPr>
            </a:pPr>
            <a:r>
              <a:t>Scheduled Execution  |  定期実行フロー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457200" y="562356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19050">
            <a:solidFill>
              <a:srgbClr val="00D2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APScheduler</a:t>
            </a:r>
            <a:br/>
            <a:r>
              <a:t>Cron Trigger</a:t>
            </a:r>
            <a:br/>
            <a:r>
              <a:t>JST 8:00, 12:00</a:t>
            </a:r>
            <a:br/>
            <a:r>
              <a:t>20:00 daily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3017520" y="562356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19050">
            <a:solidFill>
              <a:srgbClr val="4ECB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Load Latest</a:t>
            </a:r>
            <a:br/>
            <a:r>
              <a:t>Data</a:t>
            </a:r>
            <a:br/>
            <a:r>
              <a:t>News/Polls/SNS</a:t>
            </a:r>
            <a:br/>
            <a:r>
              <a:t>Candidate updates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5577840" y="562356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19050">
            <a:solidFill>
              <a:srgbClr val="FECA5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Run Pipeline</a:t>
            </a:r>
            <a:br/>
            <a:r>
              <a:t>47 Prefectures</a:t>
            </a:r>
            <a:br/>
            <a:r>
              <a:t>Parallel analysis</a:t>
            </a:r>
            <a:br/>
            <a:r>
              <a:t>max 5 concurrent</a:t>
            </a:r>
          </a:p>
        </p:txBody>
      </p:sp>
      <p:sp>
        <p:nvSpPr>
          <p:cNvPr id="49" name="Rounded Rectangle 48"/>
          <p:cNvSpPr/>
          <p:nvPr/>
        </p:nvSpPr>
        <p:spPr>
          <a:xfrm>
            <a:off x="8138160" y="562356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19050">
            <a:solidFill>
              <a:srgbClr val="FF6B6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Store Results</a:t>
            </a:r>
            <a:br/>
            <a:r>
              <a:t>&amp; History</a:t>
            </a:r>
            <a:br/>
            <a:r>
              <a:t>Prediction records</a:t>
            </a:r>
            <a:br/>
            <a:r>
              <a:t>History tracking</a:t>
            </a:r>
          </a:p>
        </p:txBody>
      </p:sp>
      <p:sp>
        <p:nvSpPr>
          <p:cNvPr id="50" name="Rounded Rectangle 49"/>
          <p:cNvSpPr/>
          <p:nvPr/>
        </p:nvSpPr>
        <p:spPr>
          <a:xfrm>
            <a:off x="10058400" y="5623560"/>
            <a:ext cx="2103120" cy="9144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 w="19050">
            <a:solidFill>
              <a:srgbClr val="BB86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900">
                <a:solidFill>
                  <a:srgbClr val="FFFFFF"/>
                </a:solidFill>
                <a:latin typeface="Arial"/>
              </a:defRPr>
            </a:pPr>
            <a:r>
              <a:t>Frontend</a:t>
            </a:r>
            <a:br/>
            <a:r>
              <a:t>Update</a:t>
            </a:r>
            <a:br/>
            <a:r>
              <a:t>SWR revalidation</a:t>
            </a:r>
            <a:br/>
            <a:r>
              <a:t>Dashboard refresh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560320" y="6080760"/>
            <a:ext cx="457200" cy="36576"/>
          </a:xfrm>
          <a:prstGeom prst="rect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Isosceles Triangle 51"/>
          <p:cNvSpPr/>
          <p:nvPr/>
        </p:nvSpPr>
        <p:spPr>
          <a:xfrm rot="5400000">
            <a:off x="2880360" y="6007608"/>
            <a:ext cx="182880" cy="182880"/>
          </a:xfrm>
          <a:prstGeom prst="triangle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5120640" y="6080760"/>
            <a:ext cx="457200" cy="36576"/>
          </a:xfrm>
          <a:prstGeom prst="rect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Isosceles Triangle 53"/>
          <p:cNvSpPr/>
          <p:nvPr/>
        </p:nvSpPr>
        <p:spPr>
          <a:xfrm rot="5400000">
            <a:off x="5440680" y="6007608"/>
            <a:ext cx="182880" cy="182880"/>
          </a:xfrm>
          <a:prstGeom prst="triangle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7680960" y="6080760"/>
            <a:ext cx="457200" cy="36576"/>
          </a:xfrm>
          <a:prstGeom prst="rect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Isosceles Triangle 55"/>
          <p:cNvSpPr/>
          <p:nvPr/>
        </p:nvSpPr>
        <p:spPr>
          <a:xfrm rot="5400000">
            <a:off x="8001000" y="6007608"/>
            <a:ext cx="182880" cy="182880"/>
          </a:xfrm>
          <a:prstGeom prst="triangle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10241280" y="6080760"/>
            <a:ext cx="-182880" cy="36576"/>
          </a:xfrm>
          <a:prstGeom prst="rect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Isosceles Triangle 57"/>
          <p:cNvSpPr/>
          <p:nvPr/>
        </p:nvSpPr>
        <p:spPr>
          <a:xfrm rot="5400000">
            <a:off x="9921240" y="6007608"/>
            <a:ext cx="182880" cy="182880"/>
          </a:xfrm>
          <a:prstGeom prst="triangle">
            <a:avLst/>
          </a:prstGeom>
          <a:solidFill>
            <a:srgbClr val="B0B0C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Project Overview  |  プロジェクト概要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4864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Arial"/>
              </a:defRPr>
            </a:pPr>
            <a:r>
              <a:t>ハイブリッド二重戦略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1. ペルソナベース投票シミュレーション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 - 289小選挙区 × 100ペルソナ（15アーキタイプ）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 - ルールベース＋LLMハイブリッドモデル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2. マルチAI予測パイプライン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 - Perplexity（ニュース/世論調査分析）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 - Grok（SNS感情分析）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 - Claude（統合予測・最終判断）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463040"/>
            <a:ext cx="54864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Arial"/>
              </a:defRPr>
            </a:pPr>
            <a:r>
              <a:t>予測対象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全465議席を予測: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31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289 小選挙区（単純小選挙区制）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06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176 比例代表議席（11ブロック）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54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47都道府県の並列処理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29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マルチシード実験による信頼性検証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31920"/>
            <a:ext cx="11247120" cy="256032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023360"/>
            <a:ext cx="54864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B71"/>
                </a:solidFill>
                <a:latin typeface="Arial"/>
              </a:defRPr>
            </a:pPr>
            <a:r>
              <a:t>技術スタック概要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Backend: Python 3.12 / FastAPI / SQLAlchemy 2.0 (async) / PostgreSQL or SQLite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92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Frontend: Next.js 14 / React 18 / TypeScript 5.6 / Tailwind CSS 3.4 / Recharts / react-simple-maps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663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AI Models: perplexity/sonar-pro, x-ai/grok-3, anthropic/claude-sonnet-4 (via OpenRouter)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40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Infrastructure: Docker Compose / APScheduler / httpx (async)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Directory Structure  |  ディレクトリ構造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4864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Arial"/>
              </a:defRPr>
            </a:pPr>
            <a:r>
              <a:t>Top Level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backend/        FastAPI backend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frontend/       Next.js frontend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persona_data/   投票者ペルソナデータ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results/        シミュレーション結果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scripts/        CLIスクリプト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docker-compose.yml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README.md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.env.example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candidates_13_24.csv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4389120" y="137160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4572000" y="1463040"/>
            <a:ext cx="54864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57200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Arial"/>
              </a:defRPr>
            </a:pPr>
            <a:r>
              <a:t>backend/app/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057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main.py          エントリポイント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331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config.py        設定管理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2606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api/             APIルーター (11個)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880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models/          SQLAlchemy ORM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schemas/         Pydanticスキーマ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services/        ビジネスロジック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simulation/    シミュレーションエンジン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prediction_pipeline.py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perplexity/grok/claude_service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4526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db/              DB接続・シード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4800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prompts/         AIプロンプト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5074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scheduler/       定期実行ジョブ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321040" y="1371600"/>
            <a:ext cx="3474720" cy="50292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8503920" y="1463040"/>
            <a:ext cx="54864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50392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B71"/>
                </a:solidFill>
                <a:latin typeface="Arial"/>
              </a:defRPr>
            </a:pPr>
            <a:r>
              <a:t>frontend/src/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595360" y="2057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app/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595360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page.tsx        ダッシュボード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95360" y="2606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simulation/     シミュレーションUI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595360" y="2880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manifesto/      政策比較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3154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personas/       ペルソナ分析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3429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map/            インタラクティブ地図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3703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battleground/   接戦選挙区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3977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district/[id]/  選挙区詳細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4251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proportional/   比例代表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4526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news/           ニュース分析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4800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youtube/        YouTube分析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5074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components/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5349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charts/  prediction/  layout/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Backend Architecture  |  バックエンド構成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4864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Arial"/>
              </a:defRPr>
            </a:pPr>
            <a:r>
              <a:t>API Endpoints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POST /simulation/run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POST /simulation/pilot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GET  /predictions/summary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GET  /predictions/latest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GET  /predictions/battleground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GET  /predictions/district/{id}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GET  /proportional/blocks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GET  /news/summary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GET  /youtube/summary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GET  /manifesto/summary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00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GET  /districts/map-summary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GET  /personas/archetypes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49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GET  /health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4389120" y="137160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572000" y="1463040"/>
            <a:ext cx="54864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Arial"/>
              </a:defRPr>
            </a:pPr>
            <a:r>
              <a:t>Core Services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057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SimulationEngine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331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- ペルソナ投票シミュレーション実行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606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- 6因子投票モデル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880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- Tier1/Tier2 処理分岐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PredictionPipeline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- マルチAI分析オーケストレーション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- 47都道府県並列処理(max 5)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526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ExperimentManager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800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- バージョン管理された実験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5074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- メタデータ付き結果保存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349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5623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ExperimentComparison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58978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- 実験間の比較・精度分析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1371600"/>
            <a:ext cx="3474720" cy="50292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03920" y="1463040"/>
            <a:ext cx="54864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B71"/>
                </a:solidFill>
                <a:latin typeface="Arial"/>
              </a:defRPr>
            </a:pPr>
            <a:r>
              <a:t>Data Models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2057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District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選挙区マスタデータ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2606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Candidate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2880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候補者情報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3154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Party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3429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政党情報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703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Prediction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3977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予測結果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4251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PredictionHistory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4526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予測履歴追跡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4800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ProportionalBlock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5074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比例代表ブロック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5349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News / YouTube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5623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分析データ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Simulation Engine  |  シミュレーションエンジン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5303520" cy="27432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48640" cy="45720"/>
          </a:xfrm>
          <a:prstGeom prst="rect">
            <a:avLst/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ECA57"/>
                </a:solidFill>
                <a:latin typeface="Arial"/>
              </a:defRPr>
            </a:pPr>
            <a:r>
              <a:t>6-Factor Voting Model（6因子投票モデル）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1. Party Loyalty（政党忠誠度）     30%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2. Policy Alignment（政策一致度）   25%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3. Candidate Appeal（候補者魅力）   20%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4. Media Influence（メディア影響）  10%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5. Regional Embeddedness（地域密着） 10%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6. Strategic Voting（戦略投票）       5%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35040" y="1371600"/>
            <a:ext cx="5669280" cy="27432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463040"/>
            <a:ext cx="54864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217920" y="155448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Arial"/>
              </a:defRPr>
            </a:pPr>
            <a:r>
              <a:t>Two-Tier Processing（2層処理）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09360" y="20574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Tier 1: Rule-based（ルールベース）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309360" y="23317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- 低スイング投票者（確信度 &gt; 0.6）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09360" y="26060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- 加重因子による高速決定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2880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09360" y="31546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Tier 2: LLM-powered（LLM活用）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09360" y="342900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- 高スイング投票者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09360" y="37033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- Claude によるバッチ分析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09360" y="39776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- ニュアンスのある判断が必要なケース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457200" y="4389120"/>
            <a:ext cx="5303520" cy="210312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640080" y="4480560"/>
            <a:ext cx="54864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40080" y="4572000"/>
            <a:ext cx="49377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B71"/>
                </a:solidFill>
                <a:latin typeface="Arial"/>
              </a:defRPr>
            </a:pPr>
            <a:r>
              <a:t>Persona System（ペルソナシステム）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507492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15種類の投票者アーキタイプ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34924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289小選挙区 × 100ペルソナ = 28,900投票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62356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persona_config.json で定義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31520" y="5897880"/>
            <a:ext cx="47548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政治参加度・世代・職業別プロファイル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6035040" y="4389120"/>
            <a:ext cx="5669280" cy="210312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217920" y="4480560"/>
            <a:ext cx="54864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217920" y="4572000"/>
            <a:ext cx="53035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Arial"/>
              </a:defRPr>
            </a:pPr>
            <a:r>
              <a:t>Output &amp; Validation（出力・検証）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6309360" y="507492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選挙区別の当選者 &amp; 得票分布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309360" y="534924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比例代表配分（11ブロック）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309360" y="56235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投票率チェック・政党分布の一貫性検証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309360" y="589788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マルチシード実験による結果の安定性確認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AI Prediction Pipeline  |  AI予測パイプライン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474720" cy="22860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4864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Arial"/>
              </a:defRPr>
            </a:pPr>
            <a:r>
              <a:t>Step 1: Data Loading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47都道府県データロード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候補者情報取得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マニフェスト（13政党）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選挙区人口統計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地域課題データ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371600"/>
            <a:ext cx="3657600" cy="22860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4389120" y="1463040"/>
            <a:ext cx="54864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38912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Arial"/>
              </a:defRPr>
            </a:pPr>
            <a:r>
              <a:t>Step 2: Parallel AI Analysis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80560" y="2057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Perplexity (sonar-pro)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2331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-&gt; ニュース・世論調査分析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480560" y="2606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Grok (grok-3)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80560" y="2880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-&gt; SNS/X感情分析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8056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Claude (claude-sonnet-4)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48056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-&gt; 統合分析・最終予測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138160" y="1371600"/>
            <a:ext cx="3566160" cy="22860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1040" y="1463040"/>
            <a:ext cx="54864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321040" y="155448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B71"/>
                </a:solidFill>
                <a:latin typeface="Arial"/>
              </a:defRPr>
            </a:pPr>
            <a:r>
              <a:t>Step 3: Result Compilation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412480" y="205740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選挙区当選者予測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412480" y="233172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比例代表ブロック配分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412480" y="260604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信頼度スコア算出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412480" y="288036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バッチサマリー生成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12480" y="3154680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実験メタデータ保存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84048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ECA57"/>
                </a:solidFill>
                <a:latin typeface="Arial"/>
              </a:defRPr>
            </a:pPr>
            <a:r>
              <a:t>&gt;&gt;&gt;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7772400" y="2103120"/>
            <a:ext cx="457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ECA57"/>
                </a:solidFill>
                <a:latin typeface="Arial"/>
              </a:defRPr>
            </a:pPr>
            <a:r>
              <a:t>&gt;&gt;&gt;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457200" y="3931920"/>
            <a:ext cx="5486400" cy="256032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0080" y="4023360"/>
            <a:ext cx="548640" cy="457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0080" y="4114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Arial"/>
              </a:defRPr>
            </a:pPr>
            <a:r>
              <a:t>AI Models Detail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31520" y="4617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perplexity/sonar-pro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31520" y="4892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リアルタイムニュース検索、世論調査分析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31520" y="5166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x-ai/grok-3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440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X(Twitter)データ、感情分析トレンド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715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anthropic/claude-sonnet-4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989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3モデルの結果統合、最終当選者判定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62636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全モデルOpenRouter API経由で呼び出し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6217920" y="3931920"/>
            <a:ext cx="5486400" cy="256032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6400800" y="4023360"/>
            <a:ext cx="548640" cy="45720"/>
          </a:xfrm>
          <a:prstGeom prst="rect">
            <a:avLst/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6400800" y="411480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ECA57"/>
                </a:solidFill>
                <a:latin typeface="Arial"/>
              </a:defRPr>
            </a:pPr>
            <a:r>
              <a:t>Orchestration Details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6492240" y="4617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都道府県単位の並列処理（最大5並列）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92240" y="4892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APScheduler による定期自動実行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6492240" y="5166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デフォルト: JST 8:00, 12:00, 20:00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6492240" y="5440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httpx async クライアントで非同期通信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6492240" y="5715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レート制限・リトライ機構内蔵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6492240" y="59893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実験バージョン管理対応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Frontend Architecture  |  フロントエンド構成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4864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Arial"/>
              </a:defRPr>
            </a:pPr>
            <a:r>
              <a:t>Pages (Next.js App Router)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/                ダッシュボード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/simulation      シミュレーション実行UI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/manifesto       政策比較（13政党）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/personas        投票者アーキタイプ分析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/map             都道府県別インタラクティブ地図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/battleground    接戦選挙区一覧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/district/[id]   選挙区個別詳細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/proportional    比例代表ブロック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/news            ニュース・世論調査分析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/youtube         YouTube動画分析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00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/models          外部モデル比較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/how-it-works    システム説明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4389120" y="137160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4572000" y="1463040"/>
            <a:ext cx="54864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57200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Arial"/>
              </a:defRPr>
            </a:pPr>
            <a:r>
              <a:t>Key Components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2057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charts/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2331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SeatDistribution    議席分布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606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JapanMap            都道府県地図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880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PersonaPartyHeatmap ペルソナ×政党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VotingFactorsChart  6因子チャート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SentimentChart      感情分析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PollingChart        世論調査推移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ModelComparisonChart モデル比較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4526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prediction/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800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DistrictCard        選挙区カード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5074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PartyBadge          政党バッジ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5349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ConfidenceBadge     信頼度表示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8321040" y="1371600"/>
            <a:ext cx="3474720" cy="50292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503920" y="1463040"/>
            <a:ext cx="54864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50392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B71"/>
                </a:solidFill>
                <a:latin typeface="Arial"/>
              </a:defRPr>
            </a:pPr>
            <a:r>
              <a:t>Tech &amp; Libraries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95360" y="2057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Next.js 14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595360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App Router / SSR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95360" y="2606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React 18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2880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Server Components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3154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TypeScript 5.6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3429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型安全なコード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3703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Tailwind CSS 3.4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3977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ユーティリティファーストCSS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4251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Recharts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4526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データビジュアライゼーション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4800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react-simple-maps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5074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都道府県地図描画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5349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SWR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5623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クライアントサイドフェッチ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Data Architecture  |  データ設計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4864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Arial"/>
              </a:defRPr>
            </a:pPr>
            <a:r>
              <a:t>persona_data/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persona_config.json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15種類の投票者アーキタイプ定義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政治参加度・属性プロファイル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manifesto_policies.json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13政党の政策データ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分野別政策マッピング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districts/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526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289選挙区CSVファイル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800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人口統計・政治傾向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5074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49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political_tendencies.json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" y="5623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都道府県別政党支持率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89120" y="1371600"/>
            <a:ext cx="3657600" cy="50292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4572000" y="1463040"/>
            <a:ext cx="54864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Arial"/>
              </a:defRPr>
            </a:pPr>
            <a:r>
              <a:t>Additional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2057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voter_profiles.json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63440" y="2331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有権者行動履歴データ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63440" y="2606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663440" y="2880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prefecture_demographics.json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6344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年齢・性別・職業別人口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66344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663440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socioeconomic_indicators.json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663440" y="39776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地域別経済指標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663440" y="42519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663440" y="45262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regional_issues.json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663440" y="48006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地域固有の課題・論点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663440" y="50749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663440" y="53492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candidates_13_24.csv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663440" y="56235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実データ候補者名簿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321040" y="1371600"/>
            <a:ext cx="3474720" cy="50292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Rectangle 37"/>
          <p:cNvSpPr/>
          <p:nvPr/>
        </p:nvSpPr>
        <p:spPr>
          <a:xfrm>
            <a:off x="8503920" y="1463040"/>
            <a:ext cx="54864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50392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B71"/>
                </a:solidFill>
                <a:latin typeface="Arial"/>
              </a:defRPr>
            </a:pPr>
            <a:r>
              <a:t>Results &amp; Experiments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595360" y="2057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results/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95360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experiments/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595360" y="2606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  sim_*_seed42/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95360" y="2880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  sim_*_seed123/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8595360" y="3154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  sim_*_seed7/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8595360" y="3429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  sim_*_seed99/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8595360" y="3703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  sim_*_seed314/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8595360" y="39776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aggregated/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8595360" y="42519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  マルチシード集約結果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8595360" y="45262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8595360" y="48006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experiments/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595360" y="50749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v2_full_289_rule_based/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595360" y="53492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バージョン管理された</a:t>
            </a:r>
          </a:p>
        </p:txBody>
      </p:sp>
      <p:sp>
        <p:nvSpPr>
          <p:cNvPr id="53" name="TextBox 52"/>
          <p:cNvSpPr txBox="1"/>
          <p:nvPr/>
        </p:nvSpPr>
        <p:spPr>
          <a:xfrm>
            <a:off x="8595360" y="56235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実験コンフィグ &amp; 結果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Infrastructure &amp; Operations  |  インフラ・運用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57200" y="137160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40080" y="1463040"/>
            <a:ext cx="54864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Arial"/>
              </a:defRPr>
            </a:pPr>
            <a:r>
              <a:t>Docker Compose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057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backend サービス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331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FastAPI + uvicorn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606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frontend サービス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880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Next.js dev/prod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database サービス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PostgreSQL 16 (本番)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  SQLite (開発用)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389120" y="1371600"/>
            <a:ext cx="3657600" cy="27432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572000" y="1463040"/>
            <a:ext cx="548640" cy="45720"/>
          </a:xfrm>
          <a:prstGeom prst="rect">
            <a:avLst/>
          </a:prstGeom>
          <a:solidFill>
            <a:srgbClr val="FF6B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572000" y="155448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F6B6B"/>
                </a:solidFill>
                <a:latin typeface="Arial"/>
              </a:defRPr>
            </a:pPr>
            <a:r>
              <a:t>Environment Config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63440" y="20574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OPENROUTER_API_KEY  (必須)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63440" y="23317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DATABASE_URL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260604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YOUTUBE_API_KEY  (任意)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63440" y="288036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NEWS_API_KEY  (任意)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663440" y="315468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PARALLEL_PREFECTURES = 5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63440" y="342900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SCHEDULE_HOURS = 8,12,20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663440" y="3703320"/>
            <a:ext cx="31089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CORS_ORIGINS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321040" y="1371600"/>
            <a:ext cx="3474720" cy="27432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503920" y="1463040"/>
            <a:ext cx="548640" cy="45720"/>
          </a:xfrm>
          <a:prstGeom prst="rect">
            <a:avLst/>
          </a:prstGeom>
          <a:solidFill>
            <a:srgbClr val="4ECB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503920" y="1554480"/>
            <a:ext cx="31089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4ECB71"/>
                </a:solidFill>
                <a:latin typeface="Arial"/>
              </a:defRPr>
            </a:pPr>
            <a:r>
              <a:t>CLI Scripts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595360" y="20574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run_experiment.py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595360" y="23317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run_full_simulation.py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595360" y="260604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run_pilot_simulation.py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595360" y="288036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run_prediction.py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595360" y="315468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generate_districts.py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595360" y="342900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load_actual_results.py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595360" y="3703320"/>
            <a:ext cx="2926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aggregate_multi_seed.py</a:t>
            </a:r>
          </a:p>
        </p:txBody>
      </p:sp>
      <p:sp>
        <p:nvSpPr>
          <p:cNvPr id="33" name="Rounded Rectangle 32"/>
          <p:cNvSpPr/>
          <p:nvPr/>
        </p:nvSpPr>
        <p:spPr>
          <a:xfrm>
            <a:off x="457200" y="4389120"/>
            <a:ext cx="11247120" cy="210312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640080" y="4480560"/>
            <a:ext cx="548640" cy="45720"/>
          </a:xfrm>
          <a:prstGeom prst="rect">
            <a:avLst/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640080" y="45720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ECA57"/>
                </a:solidFill>
                <a:latin typeface="Arial"/>
              </a:defRPr>
            </a:pPr>
            <a:r>
              <a:t>Development Workflow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31520" y="50749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Docker起動: docker compose up -d  -&gt;  http://localhost:3000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31520" y="53492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ローカル開発: backend/ uvicorn app.main:app --reload  |  frontend/ npm run dev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31520" y="56235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パイロットテスト: python scripts/run_pilot_simulation.py (少数選挙区でクイックテスト)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731520" y="58978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本番実行: python scripts/run_full_simulation.py (全289選挙区シミュレーション)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731520" y="617220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実験管理: python scripts/run_experiment.py (バージョン管理された実験の実行・比較)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4572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200" b="1">
                <a:solidFill>
                  <a:srgbClr val="FFFFFF"/>
                </a:solidFill>
                <a:latin typeface="Arial"/>
              </a:defRPr>
            </a:pPr>
            <a:r>
              <a:t>Summary  |  まとめ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" y="13716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640080" y="1463040"/>
            <a:ext cx="548640" cy="45720"/>
          </a:xfrm>
          <a:prstGeom prst="rect">
            <a:avLst/>
          </a:prstGeom>
          <a:solidFill>
            <a:srgbClr val="00D2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4008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D2FF"/>
                </a:solidFill>
                <a:latin typeface="Arial"/>
              </a:defRPr>
            </a:pPr>
            <a:r>
              <a:t>Architecture Highlights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057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Full-stack: FastAPI + Next.js 14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2331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Async-first: SQLAlchemy 2.0 + httpx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606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AI-powered: 3 specialized LLM models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Data-driven: 289 districts, 15 archetypes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54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Reproducible: versioned experiments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29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Dockerized: one-command deployment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1371600"/>
            <a:ext cx="5486400" cy="22860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400800" y="1463040"/>
            <a:ext cx="548640" cy="45720"/>
          </a:xfrm>
          <a:prstGeom prst="rect">
            <a:avLst/>
          </a:prstGeom>
          <a:solidFill>
            <a:srgbClr val="FECA5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0" y="15544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ECA57"/>
                </a:solidFill>
                <a:latin typeface="Arial"/>
              </a:defRPr>
            </a:pPr>
            <a:r>
              <a:t>Key Numbers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92240" y="20574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465 議席の予測（289小選挙区 + 176比例）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92240" y="233172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15 投票者アーキタイプ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92240" y="260604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13 政党のマニフェスト比較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49224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47 都道府県の並列AI分析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92240" y="315468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6 投票因子モデル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92240" y="342900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5 シード × 289 = 安定性検証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457200" y="3931920"/>
            <a:ext cx="11247120" cy="2286000"/>
          </a:xfrm>
          <a:prstGeom prst="roundRect">
            <a:avLst>
              <a:gd name="adj" fmla="val 5000"/>
            </a:avLst>
          </a:prstGeom>
          <a:solidFill>
            <a:srgbClr val="222B4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640080" y="4023360"/>
            <a:ext cx="548640" cy="45720"/>
          </a:xfrm>
          <a:prstGeom prst="rect">
            <a:avLst/>
          </a:prstGeom>
          <a:solidFill>
            <a:srgbClr val="BB8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40080" y="4114800"/>
            <a:ext cx="10881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BB86FC"/>
                </a:solidFill>
                <a:latin typeface="Arial"/>
              </a:defRPr>
            </a:pPr>
            <a:r>
              <a:t>Technology Stack Summary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31520" y="461772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Backend:   Python 3.12  |  FastAPI  |  SQLAlchemy 2.0  |  PostgreSQL/SQLite  |  APScheduler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31520" y="489204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Frontend:  Next.js 14  |  React 18  |  TypeScript 5.6  |  Tailwind CSS 3.4  |  Recharts  |  react-simple-maps  |  SWR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516636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AI:        Perplexity sonar-pro  |  Grok-3  |  Claude sonnet-4  (via OpenRouter API)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5440680"/>
            <a:ext cx="10698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B0B0C0"/>
                </a:solidFill>
                <a:latin typeface="Arial"/>
              </a:defRPr>
            </a:pPr>
            <a:r>
              <a:t>  DevOps:    Docker Compose  |  GitHub  |  Pydantic 2.5+  |  httpx async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14400" y="6400800"/>
            <a:ext cx="10332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666688"/>
                </a:solidFill>
                <a:latin typeface="Arial"/>
              </a:defRPr>
            </a:pPr>
            <a:r>
              <a:t>ElectionSim - AI-Powered Japanese Election Prediction System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